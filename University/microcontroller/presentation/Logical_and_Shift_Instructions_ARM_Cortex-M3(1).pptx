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 11 and the topic: two groups of ARM Cortex-M3 instructions. Logical ones calculate bit by bit; shift ones move bits left or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parts: logical, shift/rotate, flags, worked examples, real use. Flags are tiny status bits showing how the last result looked.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registers (32-bit boxes), hex (1 digit = 4 bits) and flags before the instructions. This makes everything after it easy to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Bitwise means bit 0 of Rn meets bit 0 of Operand2, bit 1 meets bit 1, and so on. S and cond are optional extras.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Truth table: AND needs both 1, ORR needs any 1, EOR needs different bits. Walk through the three binary examples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BIC and ORN flip Operand2 first. BIC: a 1 in Operand2 clears that bit. ORN: 0 in Operand2 becomes 1. On 32 bits NOT also sets the upper 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S, N and Z come from the result, C may change, V never changes. SP and PC are not allowed. EQ runs the instruction only when Z =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row by row in binary. ANDS gives 0000 1001, not zero, so Z = 0. EOR with all 1s flips every bit, like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forms: shift by register, by constant, and RRX which always shifts by 1. Rm is never changed; the answer goes to 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LSL doubles per step: 11 becomes 88 after 3 steps. LSR halves per step: 180 becomes 45 after 2 steps. Zeros fill the empty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ASR copies the sign bit, so -16 becomes -8 then -4. LSR would put zeros in and give a wrong positive 60. Signed: ASR.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ROR is a loop: the bit leaving bit 0 enters bit 31. RRX is a loop of 33 bits because the C flag joins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flags: N and Z from the result, C is the last bit that fell out. If shift length is 0, C stays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four flags with a mini example each. Stress: without the S suffix nothing changes in the flags.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memory tricks aloud. These one-liners are what the audience will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table. If asked the difference between LSR and ASR: zero fill versus sign fill.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embedded use: ORR turns a pin on, BIC off, EOR toggles it, ANDS tests it. LSL and LSR are fast multiply and divide by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table as a cheat sheet: pick the instruction from what you want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typical mistakes so the audience avoids them: LSR on signed numbers, missing S, BIC vs 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 points to repeat. Say thank you and ask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457200" y="1005840"/>
            <a:ext cx="73152" cy="155448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9601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Logical &amp; Shift Instructions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 ARM Cortex-M3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DD3D8"/>
                </a:solidFill>
              </a:rPr>
              <a:t>AND, ORR, EOR, BIC, ORN (3.5.2)  +  ASR, LSL, LSR, ROR, RRX (3.5.3)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17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TEAM 11 | Microcontroller Course | Ref: ST PM0056 Rev 7, pages 75-76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83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Rasel Ahammed - 2310776141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Md. Shoriful Islam - 2310376113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Mahamudul Hasan Masum - 2310876111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We Will Cover</a:t>
            </a:r>
            <a:endParaRPr lang="en-US" sz="2600" dirty="0"/>
          </a:p>
        </p:txBody>
      </p:sp>
      <p:sp>
        <p:nvSpPr>
          <p:cNvPr id="5" name="Row0"/>
          <p:cNvSpPr/>
          <p:nvPr/>
        </p:nvSpPr>
        <p:spPr>
          <a:xfrm>
            <a:off x="457200" y="11430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1  Logical instructions: AND, ORR, EOR, BIC, ORN</a:t>
            </a:r>
            <a:endParaRPr lang="en-US" sz="1600" dirty="0"/>
          </a:p>
        </p:txBody>
      </p:sp>
      <p:sp>
        <p:nvSpPr>
          <p:cNvPr id="7" name="Row1"/>
          <p:cNvSpPr/>
          <p:nvPr/>
        </p:nvSpPr>
        <p:spPr>
          <a:xfrm>
            <a:off x="457200" y="170992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09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2  Shift &amp; rotate: ASR, LSL, LSR, ROR, RRX</a:t>
            </a:r>
            <a:endParaRPr lang="en-US" sz="1600" dirty="0"/>
          </a:p>
        </p:txBody>
      </p:sp>
      <p:sp>
        <p:nvSpPr>
          <p:cNvPr id="9" name="Row2"/>
          <p:cNvSpPr/>
          <p:nvPr/>
        </p:nvSpPr>
        <p:spPr>
          <a:xfrm>
            <a:off x="457200" y="2276856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27685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3  Flags &amp; restrictions: N, Z, C, V</a:t>
            </a:r>
            <a:endParaRPr lang="en-US" sz="1600" dirty="0"/>
          </a:p>
        </p:txBody>
      </p:sp>
      <p:sp>
        <p:nvSpPr>
          <p:cNvPr id="11" name="Row3"/>
          <p:cNvSpPr/>
          <p:nvPr/>
        </p:nvSpPr>
        <p:spPr>
          <a:xfrm>
            <a:off x="457200" y="2843784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8437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4  Worked examples in binary</a:t>
            </a:r>
            <a:endParaRPr lang="en-US" sz="1600" dirty="0"/>
          </a:p>
        </p:txBody>
      </p:sp>
      <p:sp>
        <p:nvSpPr>
          <p:cNvPr id="13" name="Row4"/>
          <p:cNvSpPr/>
          <p:nvPr/>
        </p:nvSpPr>
        <p:spPr>
          <a:xfrm>
            <a:off x="457200" y="3410712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4107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5  Real use (bit set / clear / toggle) + summary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4C"/>
                </a:solidFill>
              </a:rPr>
              <a:t>Flags: N = Negative, Z = Zero, C = Carry, V = Overflow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Basics You Need First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Register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 tiny 32-bit storage box inside the CPU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R0-R12 are general purpose; SP and PC are special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Bit 31 = leftmost bit, bit 0 = rightmost bit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Hex shortcut: 1 hex digit = 4 bits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2926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Hex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Binary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0x0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0x5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0101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0xA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1010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0xF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1111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Flags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14173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Status bits kept by the CPU: N, Z, C, V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Updated only when the S suffix is used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Later used by conditions like EQ / NE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2606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Operand2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297180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The flexible second input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Can be a register, a constant (#imm) or a shifted register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Example: ORN R7,R11,R14,ROR #4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4C"/>
                </a:solidFill>
              </a:rPr>
              <a:t>Easy point: 0xFF = 1111 1111 (8 ones).  0xF0 = 1111 0000.  0x0F = 0000 1111.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3.5.2 Logical Instructions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2284C"/>
                </a:solidFill>
              </a:rPr>
              <a:t>Bitwise: each bit of Rn is combined with the same bit of Operand2</a:t>
            </a:r>
            <a:endParaRPr lang="en-US" sz="1500" dirty="0"/>
          </a:p>
        </p:txBody>
      </p:sp>
      <p:sp>
        <p:nvSpPr>
          <p:cNvPr id="6" name="CodeBox"/>
          <p:cNvSpPr/>
          <p:nvPr/>
        </p:nvSpPr>
        <p:spPr>
          <a:xfrm>
            <a:off x="457200" y="14630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5361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op{S}{cond} {Rd,} Rn, Operand2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03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Syntax parts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6888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op: AND, ORR, EOR, BIC, ORN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S: update flags (optional)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cond: condition, e.g. EQ (optional)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Rd: destination register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Rn: first operand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Operand2: register, #imm or shifted register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103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Operations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46888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AND: bitwise AND (mask)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ORR: bitwise OR (set bits)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EOR: exclusive OR (toggle)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BIC: Rn AND NOT Operand2 (clear bits)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ORN: Rn OR NOT Operand2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AND, ORR, EOR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3474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731520"/>
                <a:gridCol w="731520"/>
                <a:gridCol w="7315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ORR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29260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AND: both must be 1 (mask / keep bits)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ORR: either is 1 (set bits)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EOR: different gives 1 (toggle bits)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Result goes to Rd; Rn and Operand2 unchanged</a:t>
            </a:r>
            <a:endParaRPr lang="en-US" sz="1200" dirty="0"/>
          </a:p>
        </p:txBody>
      </p:sp>
      <p:sp>
        <p:nvSpPr>
          <p:cNvPr id="7" name="CodeBox"/>
          <p:cNvSpPr/>
          <p:nvPr/>
        </p:nvSpPr>
        <p:spPr>
          <a:xfrm>
            <a:off x="4206240" y="1097280"/>
            <a:ext cx="4480560" cy="3383280"/>
          </a:xfrm>
          <a:prstGeom prst="roundRect">
            <a:avLst>
              <a:gd name="adj" fmla="val 2162"/>
            </a:avLst>
          </a:prstGeom>
          <a:solidFill>
            <a:srgbClr val="0F172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343400" y="1170432"/>
            <a:ext cx="420624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R0,R1,#0x0F   ; keep low 4 bits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1011 0110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0000 1111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0000 0110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ORR R0,R1,#0x0F   ; set low 4 bits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1010 0101 | 0000 1111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1010 1111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EOR R0,R1,#0x0F   ; toggle low 4 bits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1010 0101 ^ 0000 1111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1010 1010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4C"/>
                </a:solidFill>
              </a:rPr>
              <a:t>Rule: where Operand2 has a 1, that bit is affected.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BIC and ORN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2284C"/>
                </a:solidFill>
              </a:rPr>
              <a:t>Both use the complement (NOT) of Operand2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BIC (Bit Clear)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Rd = Rn AND (NOT Operand2)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Operand2 bit = 1 gives result bit = 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Think: "1 means clear this bit"</a:t>
            </a:r>
            <a:endParaRPr lang="en-US" sz="1200" dirty="0"/>
          </a:p>
        </p:txBody>
      </p:sp>
      <p:sp>
        <p:nvSpPr>
          <p:cNvPr id="8" name="CodeBox"/>
          <p:cNvSpPr/>
          <p:nvPr/>
        </p:nvSpPr>
        <p:spPr>
          <a:xfrm>
            <a:off x="457200" y="29260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999232"/>
            <a:ext cx="3657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BIC R0,R1,#0xAB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      = 1111 1111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0xAB     = 1010 1011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0xAB = 0101 0100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      = 0101 0100 (0x54)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ORN (OR NOT)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7830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Rd = Rn OR (NOT Operand2)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Operand2 bit = 0 gives result bit = 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On 32 bits the upper bits become 1</a:t>
            </a:r>
            <a:endParaRPr lang="en-US" sz="1200" dirty="0"/>
          </a:p>
        </p:txBody>
      </p:sp>
      <p:sp>
        <p:nvSpPr>
          <p:cNvPr id="12" name="CodeBox"/>
          <p:cNvSpPr/>
          <p:nvPr/>
        </p:nvSpPr>
        <p:spPr>
          <a:xfrm>
            <a:off x="4754880" y="29260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2999232"/>
            <a:ext cx="3657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ORN R7,R11,#0xF0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R11      = 0000 1111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0xF0     = 1111 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0xF0 = 0000 1111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R7 = 0xFFFFFF0F (32-bit)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Logical Ops: Flags &amp; Restrictions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If S is specified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 and Z updated from the result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 may update while computing Operand2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V is not affected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34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Restrictions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004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Do not use SP or PC as registers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Condition suffix EQ runs only if Z = 1</a:t>
            </a:r>
            <a:endParaRPr lang="en-US" sz="1300" dirty="0"/>
          </a:p>
        </p:txBody>
      </p:sp>
      <p:sp>
        <p:nvSpPr>
          <p:cNvPr id="9" name="CodeBox"/>
          <p:cNvSpPr/>
          <p:nvPr/>
        </p:nvSpPr>
        <p:spPr>
          <a:xfrm>
            <a:off x="4754880" y="109728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170432"/>
            <a:ext cx="365760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 R9, R2, #0xFF00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ORREQ R2, R0, R5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ANDS  R9, R8, #0x19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EORS  R7, R11, #0x18181818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BIC   R0, R1, #0xAB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ORN   R7, R11, R14, ROR #4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ORNS  R7, R11, R14, ASR #32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Worked Example: Logical Math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2284C"/>
                </a:solidFill>
              </a:rPr>
              <a:t>Binary view, 8 bits for clarity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Instruction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Operand2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ANDS R9,R8,#0x19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0010 1101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0001 1001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0000 1001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ORR R0,R1,R2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1100 0011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0000 1111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1100 1111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EORS R7,R11,#0xFF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1010 1010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1111 1111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0101 0101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Check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ANDS: 0x09 is non-zero, so Z = 0; top bit 0, so N = 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EOR with all 1s = NOT (flips every bit)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BIC with 0xAB clears bits 0, 1, 3, 5, 7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3.5.3 Shift &amp; Rotate Instructions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284C"/>
                </a:solidFill>
              </a:rPr>
              <a:t>ASR: arithmetic shift right | LSL/LSR: logical shift | ROR: rotate right | RRX: rotate right extend</a:t>
            </a:r>
            <a:endParaRPr lang="en-US" sz="1300" dirty="0"/>
          </a:p>
        </p:txBody>
      </p:sp>
      <p:sp>
        <p:nvSpPr>
          <p:cNvPr id="6" name="CodeBox"/>
          <p:cNvSpPr/>
          <p:nvPr/>
        </p:nvSpPr>
        <p:spPr>
          <a:xfrm>
            <a:off x="457200" y="155448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627632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op{S}{cond} Rd, Rm, 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op{S}{cond} Rd, Rm, #n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RRX{S}{cond} Rd, Rm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51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Shift length 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175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ASR, LSR: 1 to 32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LSL: 0 to 31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ROR: 1 to 31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Operands &amp; notes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92024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Rd: destination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Rm: value to shift (unchanged)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Rs: shift register, lowest byte used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n: constant shift length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RRX shifts by exactly 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MOV Rd,Rm is preferred over LSL Rd,Rm,#0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LSL and LSR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2284C"/>
                </a:solidFill>
              </a:rPr>
              <a:t>Logical shifts: empty bits are filled with 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LSL: shift left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0 enters on the right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Shift by n = multiply by 2^n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 = last bit shifted out</a:t>
            </a:r>
            <a:endParaRPr lang="en-US" sz="1200" dirty="0"/>
          </a:p>
        </p:txBody>
      </p:sp>
      <p:sp>
        <p:nvSpPr>
          <p:cNvPr id="8" name="CodeBox"/>
          <p:cNvSpPr/>
          <p:nvPr/>
        </p:nvSpPr>
        <p:spPr>
          <a:xfrm>
            <a:off x="457200" y="28346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907792"/>
            <a:ext cx="36576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LSLS R1,R2,#3   ; R2 = 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 1011  (11)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0001 0110  (22)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 1100  (44)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0101 1000  (88) = R1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x 2^3 = 88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LSR: shift right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783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0 enters on the left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Shift by n = unsigned divide by 2^n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 = last bit shifted out</a:t>
            </a:r>
            <a:endParaRPr lang="en-US" sz="1200" dirty="0"/>
          </a:p>
        </p:txBody>
      </p:sp>
      <p:sp>
        <p:nvSpPr>
          <p:cNvPr id="12" name="CodeBox"/>
          <p:cNvSpPr/>
          <p:nvPr/>
        </p:nvSpPr>
        <p:spPr>
          <a:xfrm>
            <a:off x="4754880" y="28346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2907792"/>
            <a:ext cx="36576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LSR R4,R5,#2   ; R5 = 180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1011 0100  (180)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0101 1010  (90)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 1101  (45) = R4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 / 2^2 = 45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ASR (Arithmetic Shift Right)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2284C"/>
                </a:solidFill>
              </a:rPr>
              <a:t>The sign bit is copied in, so signed numbers keep their sign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Bits move right by n; top (sign) bit is replicated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Signed divide by 2^n (rounds toward minus infinity)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Positive numbers: same as LSR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Negative numbers stay negative</a:t>
            </a:r>
            <a:endParaRPr lang="en-US" sz="1300" dirty="0"/>
          </a:p>
        </p:txBody>
      </p:sp>
      <p:sp>
        <p:nvSpPr>
          <p:cNvPr id="7" name="CodeBox"/>
          <p:cNvSpPr/>
          <p:nvPr/>
        </p:nvSpPr>
        <p:spPr>
          <a:xfrm>
            <a:off x="4754880" y="141732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1490472"/>
            <a:ext cx="365760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ASR R7,R8,#2   ; R8 = -16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 0000  (-16)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 1000  (-8)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 1100  (-4) = R7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LSR would give: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0011 1100  (60) WRONG</a:t>
            </a:r>
            <a:endParaRPr lang="en-US" sz="1100" dirty="0"/>
          </a:p>
        </p:txBody>
      </p:sp>
      <p:sp>
        <p:nvSpPr>
          <p:cNvPr id="9" name="CodeBox"/>
          <p:cNvSpPr/>
          <p:nvPr/>
        </p:nvSpPr>
        <p:spPr>
          <a:xfrm>
            <a:off x="457200" y="36118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685032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32-bit: R8 = 0xFFFFF000 (-4096)   ASR R7,R8,#9   R7 = 0xFFFFFFF8 (-8)   (LSR gives 0x007FFFF8, wrong for signed)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4C"/>
                </a:solidFill>
              </a:rPr>
              <a:t>Signed: use ASR.  Unsigned: use LSR.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ROR and RRX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2284C"/>
                </a:solidFill>
              </a:rPr>
              <a:t>Rotate: bits that leave one side re-enter the other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ROR (Rotate Right)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Bit shifted out of bit 0 enters bit 31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No bit is lost; n = 1 to 31 (or Rs)</a:t>
            </a:r>
            <a:endParaRPr lang="en-US" sz="1200" dirty="0"/>
          </a:p>
        </p:txBody>
      </p:sp>
      <p:sp>
        <p:nvSpPr>
          <p:cNvPr id="8" name="CodeBox"/>
          <p:cNvSpPr/>
          <p:nvPr/>
        </p:nvSpPr>
        <p:spPr>
          <a:xfrm>
            <a:off x="457200" y="265176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724912"/>
            <a:ext cx="36576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ROR R4,R5,#1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0000 0011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 0001  = R4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ROR R4,R5,#4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1010 0101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0101 1010  = R4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RRX (Rotate Right Extend)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783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Shifts right by 1 through the C flag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Old C goes to bit 31; bit 0 goes to C</a:t>
            </a:r>
            <a:endParaRPr lang="en-US" sz="1200" dirty="0"/>
          </a:p>
        </p:txBody>
      </p:sp>
      <p:sp>
        <p:nvSpPr>
          <p:cNvPr id="12" name="CodeBox"/>
          <p:cNvSpPr/>
          <p:nvPr/>
        </p:nvSpPr>
        <p:spPr>
          <a:xfrm>
            <a:off x="4754880" y="265176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2724912"/>
            <a:ext cx="36576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RRX R4,R5   ; C 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R5 = 0000 0010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R4 = 1000 0001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C = 0 (with S suffix)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32-bit: 0x00000002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-&gt;  0x80000001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Shift Instructions: Flags &amp; Restrictions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If S is specified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 and Z updated from the result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 = last bit shifted out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Exception: shift length 0, C unchanged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926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Restriction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91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Do not use SP or PC</a:t>
            </a:r>
            <a:endParaRPr lang="en-US" sz="1300" dirty="0"/>
          </a:p>
        </p:txBody>
      </p:sp>
      <p:sp>
        <p:nvSpPr>
          <p:cNvPr id="9" name="CodeBox"/>
          <p:cNvSpPr/>
          <p:nvPr/>
        </p:nvSpPr>
        <p:spPr>
          <a:xfrm>
            <a:off x="4754880" y="109728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170432"/>
            <a:ext cx="365760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ASR  R7, R8, #9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LSLS R1, R2, #3   ; updates flags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LSR  R4, R5, #6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ROR  R4, R5, R6   ; by low byte of R6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RRX  R4, R5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Flags Explained with Examples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36576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Flag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Bit 31 of result is 1 (negative)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Result 0x80000000 gives N =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Z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Result is exactly 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ANDS with no common 1s gives Z =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Last bit shifted out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LSLS 1000 0001 by #1 gives C =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Signed overflow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Not changed by logical or shift ops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6" name="CodeBox"/>
          <p:cNvSpPr/>
          <p:nvPr/>
        </p:nvSpPr>
        <p:spPr>
          <a:xfrm>
            <a:off x="457200" y="29260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2999232"/>
            <a:ext cx="37490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ANDS R0,R1,R2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= 1010 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= 0000 1111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= 0000 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Z = 1, N = 0</a:t>
            </a:r>
            <a:endParaRPr lang="en-US" sz="1100" dirty="0"/>
          </a:p>
        </p:txBody>
      </p:sp>
      <p:sp>
        <p:nvSpPr>
          <p:cNvPr id="8" name="CodeBox"/>
          <p:cNvSpPr/>
          <p:nvPr/>
        </p:nvSpPr>
        <p:spPr>
          <a:xfrm>
            <a:off x="4663440" y="29260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00600" y="2999232"/>
            <a:ext cx="37490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LSLS R0,R1,#1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= 1000 0001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= 0000 0010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bit out was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C = 1, Z = 0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4C"/>
                </a:solidFill>
              </a:rPr>
              <a:t>Easy point: S = "show the result in the flags". Without S, flags stay unchanged.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Easy Memory Tricks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6751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Instruction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How to remember 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Both must say YES (1 and 1 gives 1). Used to mask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ORR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Any ONE yes is enough. Used to set bits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EOR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Spot the difference: different gives 1. Used to toggle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Bit Clear: a 1 in Operand2 erases that bit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ORN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OR, but Operand2 is flipped first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LSL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Move left: each step doubles the number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LSR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Move right: each step halves it (unsigned)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ASR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Like LSR but copies the sign bit (signed)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Carousel: bit leaving the right re-enters on the left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RRX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Carousel with one extra seat: the C flag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Quick Comparison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27432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Instruction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Math view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AND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keep / mask bits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A &amp; 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ORR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set bits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A | 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EOR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toggle bits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A ^ 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BIC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clear bits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A &amp; ~B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ORN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OR with NOT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A | ~B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LSL / LSR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shift, fill 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x 2^n / unsigned / 2^n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ASR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shift, keep sign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signed / 2^n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ROR / RRX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rotate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no bits lost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Real Use: Controlling Bits (GPIO)</a:t>
            </a:r>
            <a:endParaRPr lang="en-US" sz="2600" dirty="0"/>
          </a:p>
        </p:txBody>
      </p:sp>
      <p:sp>
        <p:nvSpPr>
          <p:cNvPr id="5" name="CodeBox"/>
          <p:cNvSpPr/>
          <p:nvPr/>
        </p:nvSpPr>
        <p:spPr>
          <a:xfrm>
            <a:off x="457200" y="1097280"/>
            <a:ext cx="822960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170432"/>
            <a:ext cx="79552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R0 = port register 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ORR  R0,R0,#0x20  ; set bit 5    0000 0000 -&gt; 0010 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BIC  R0,R0,#0x20  ; clear bit 5  0010 0000 -&gt; 0000 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EOR  R0,R0,#0x20  ; toggle bit 5 0000 0000 -&gt; 0010 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ANDS R1,R0,#0x20  ; test bit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BEQ  off           ; Z=1 means bit is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LSL  R1,R2,#2     ; R2 x 4   (5 -&gt; 20)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LSR  R3,R2,#1     ; R2 / 2   (20 -&gt; 10)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Why it matters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947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Control pins, flags, timers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Pack / unpack data fields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Fast multiply / divide by powers of 2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Needs no extra memory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3383280"/>
          <a:ext cx="35661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Set bit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ORR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Clear bit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Toggle bit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Test bit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ANDS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Which Instruction Should I Use?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6576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 want to...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Keep only some bits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AND R0,R1,#0x0F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Force bits to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ORR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ORR R0,R0,#0x20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Force bits to 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BIC R0,R0,#0x20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Flip bits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EOR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EOR R0,R0,#0x20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Test a bit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ANDS + BEQ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ANDS R1,R0,#0x20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Multiply by 2^n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LSL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LSL R1,R2,#2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Divide unsigned by 2^n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LSR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LSR R3,R2,#1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Divide signed by 2^n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ASR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ASR R7,R8,#9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Rotate / swap nibbles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ROR R4,R5,#4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Shift through carry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RRX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RRX R4,R5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Common Mistakes &amp; Fixes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Mistake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Using LSR on negative signed numbers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Use ASR to keep the sign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Expecting flags without the S suffix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Write ANDS, LSLS, EORS...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Mixing up BIC and AND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In BIC, a 1 in Operand2 CLEARS that bit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Forgetting NOT works on all 32 bits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ORN / BIC give 0xFFFFFF0F style results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Using SP or PC as a register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Use R0-R12 instead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Shift length out of range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LSL 0-31, ROR 1-31, ASR/LSR 1-32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28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Logical ops work bit by bit: AND, ORR, EOR, BIC, ORN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Shifts move bits: LSL, LSR, ASR; rotates: ROR, RRX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S suffix updates N, Z (and C for shifts)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Never use SP or PC with these instructions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DD3D8"/>
                </a:solidFill>
              </a:rPr>
              <a:t>Thank You  |  Team 11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2026-10-26T18:26:29Z</dcterms:created>
  <dcterms:modified xsi:type="dcterms:W3CDTF">2026-10-26T18:26:29Z</dcterms:modified>
</cp:coreProperties>
</file>